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551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39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58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26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501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191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902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92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191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915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156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1876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977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430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46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E9081-A0E6-4AB3-8CD1-E1BC4D921E0D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701769-DDA0-4DAD-86CE-3C154602F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5693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821CFD-37ED-46BD-A89D-9ABCDBB27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940526"/>
            <a:ext cx="10141131" cy="5212080"/>
          </a:xfrm>
        </p:spPr>
        <p:txBody>
          <a:bodyPr>
            <a:normAutofit lnSpcReduction="10000"/>
          </a:bodyPr>
          <a:lstStyle/>
          <a:p>
            <a:pPr algn="l"/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 name: Fortunate Dube</a:t>
            </a:r>
            <a:b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 PIN: P2123938k</a:t>
            </a:r>
            <a:b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Topic: </a:t>
            </a:r>
            <a:r>
              <a:rPr lang="en-US" sz="4000" dirty="0"/>
              <a:t>Predictive Water Optimization System for Precision Agriculture</a:t>
            </a:r>
            <a:b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of Supervisor:  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0611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C7A6-DBE3-4247-9A61-48D32918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40820-404A-47AF-84AE-782D75737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0607"/>
            <a:ext cx="8596668" cy="446075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Project Name:</a:t>
            </a:r>
            <a:r>
              <a:rPr lang="en-US" sz="2300" dirty="0"/>
              <a:t> Predictive Water Optimization System (P-WOS)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Domain:</a:t>
            </a:r>
            <a:r>
              <a:rPr lang="en-US" sz="2300" dirty="0"/>
              <a:t> </a:t>
            </a:r>
            <a:r>
              <a:rPr lang="en-US" sz="2300" dirty="0" err="1"/>
              <a:t>AgriTech</a:t>
            </a:r>
            <a:r>
              <a:rPr lang="en-US" sz="2300" dirty="0"/>
              <a:t> / Internet of Things (IoT) / Machine Learning (ML)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Concept:</a:t>
            </a:r>
            <a:r>
              <a:rPr lang="en-US" sz="2300" dirty="0"/>
              <a:t> A low-cost, smart irrigation system that uses real-time farm sensor data and an ML model to predict future soil moisture and automatically schedule the </a:t>
            </a:r>
            <a:r>
              <a:rPr lang="en-US" sz="2300" i="1" dirty="0"/>
              <a:t>optimal</a:t>
            </a:r>
            <a:r>
              <a:rPr lang="en-US" sz="2300" dirty="0"/>
              <a:t> next watering time, minimizing water waste.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Software Focus:</a:t>
            </a:r>
            <a:r>
              <a:rPr lang="en-US" sz="2300" dirty="0"/>
              <a:t> Developing a robust, full-stack application (embedded C++, cloud-based ML API and web/mobile interface).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2457607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12049-0B3F-439E-A786-2E22D194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A8027-5378-4CEA-B9BC-7F699EBCC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Global Context:</a:t>
            </a:r>
            <a:r>
              <a:rPr lang="en-US" sz="2300" dirty="0"/>
              <a:t> Agriculture consumes roughly 70% of the world's fresh water supply, with up to 50% often wasted due to inefficient, timer-based, or manual irrigation.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300" dirty="0"/>
              <a:t> </a:t>
            </a:r>
            <a:r>
              <a:rPr lang="en-GB" sz="2300" b="1" dirty="0"/>
              <a:t>Traditional Method:</a:t>
            </a:r>
            <a:r>
              <a:rPr lang="en-GB" sz="2300" dirty="0"/>
              <a:t> Current basic solutions rely on simple moisture thresholds (e.g., "if moisture &lt; 30%, turn on pump”). This method is reactive and fails to account for factors like upcoming rainfall or high-humidity days.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Modern Approach (NILM/P-WOS):</a:t>
            </a:r>
            <a:r>
              <a:rPr lang="en-US" sz="2300" dirty="0"/>
              <a:t> We leverage </a:t>
            </a:r>
            <a:r>
              <a:rPr lang="en-US" sz="2300" b="1" dirty="0"/>
              <a:t>time-series data</a:t>
            </a:r>
            <a:r>
              <a:rPr lang="en-US" sz="2300" dirty="0"/>
              <a:t> and </a:t>
            </a:r>
            <a:r>
              <a:rPr lang="en-US" sz="2300" b="1" dirty="0"/>
              <a:t>Machine Learning</a:t>
            </a:r>
            <a:r>
              <a:rPr lang="en-US" sz="2300" dirty="0"/>
              <a:t> to create a proactive, predictive control loop, moving beyond simple reactivity to true optimization.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411021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5090-766B-4D75-B142-15618AE04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511AB-4303-4EFF-8007-2DACBF335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Current low-cost automated irrigation systems are </a:t>
            </a:r>
            <a:r>
              <a:rPr lang="en-US" sz="2300" b="1" dirty="0"/>
              <a:t>reactive and inefficient</a:t>
            </a:r>
            <a:r>
              <a:rPr lang="en-US" sz="2300" dirty="0"/>
              <a:t>, leading to excessive water consumption, fluctuating crop stress and wasted energy. They lack the intelligence to incorporate environmental factors like local weather forecasts or historical soil-drying trends to make optimal watering decisions.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327950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FF6EB-6F33-41FA-9A79-57F6F2CB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FE6A5-6E77-47CC-B1F8-BAA768AC1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To </a:t>
            </a:r>
            <a:r>
              <a:rPr lang="en-US" sz="2300" b="1" dirty="0"/>
              <a:t>design, develop and evaluate a predictive software architecture</a:t>
            </a:r>
            <a:r>
              <a:rPr lang="en-US" sz="2300" dirty="0"/>
              <a:t> for a low-cost, IoT-enabled micro-irrigation system that uses Machine Learning to forecast water needs, thereby reducing water usage by a measurable percentage compared to traditional threshold-based systems.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32766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2E845-63DF-4A85-B304-8B1016D21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EAC45-3323-4173-B27D-273C93875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7301"/>
            <a:ext cx="8596668" cy="478406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100" dirty="0"/>
              <a:t>To develop </a:t>
            </a:r>
            <a:r>
              <a:rPr lang="en-US" sz="2100" b="1" dirty="0"/>
              <a:t>firmware</a:t>
            </a:r>
            <a:r>
              <a:rPr lang="en-US" sz="2100" dirty="0"/>
              <a:t> for an ESP32 microcontroller to reliably sample and transmit soil moisture, temperature and humidity data at high frequency using the MQTT protocol.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100" dirty="0"/>
              <a:t>To establish a </a:t>
            </a:r>
            <a:r>
              <a:rPr lang="en-US" sz="2100" b="1" dirty="0"/>
              <a:t>Cloud-based ML API</a:t>
            </a:r>
            <a:r>
              <a:rPr lang="en-US" sz="2100" dirty="0"/>
              <a:t> that processes the time-series sensor data and a local weather forecast API to train and host a water need prediction model.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100" dirty="0"/>
              <a:t>To implement a </a:t>
            </a:r>
            <a:r>
              <a:rPr lang="en-US" sz="2100" b="1" dirty="0"/>
              <a:t>Control Logic Software</a:t>
            </a:r>
            <a:r>
              <a:rPr lang="en-US" sz="2100" dirty="0"/>
              <a:t> that automatically schedules the water pump based on the model's prediction, prioritizing prediction over fixed thresholds.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100" dirty="0"/>
              <a:t>To build a full-stack </a:t>
            </a:r>
            <a:r>
              <a:rPr lang="en-US" sz="2100" b="1" dirty="0"/>
              <a:t>Web Dashboard</a:t>
            </a:r>
            <a:r>
              <a:rPr lang="en-US" sz="2100" dirty="0"/>
              <a:t> for users to monitor system performance, water consumption logs, and the ML model's confidence scores.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100" dirty="0"/>
              <a:t>To </a:t>
            </a:r>
            <a:r>
              <a:rPr lang="en-US" sz="2100" b="1" dirty="0"/>
              <a:t>quantitatively compare</a:t>
            </a:r>
            <a:r>
              <a:rPr lang="en-US" sz="2100" dirty="0"/>
              <a:t> the water efficiency of the predictive model against a standard reactive threshold model.</a:t>
            </a:r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2340103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410CF-47A6-4E2C-B080-0472BF57A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9EC71-241E-4340-BFD5-4006F72AA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How can an inexpensive time-series classification model accurately predict the </a:t>
            </a:r>
            <a:r>
              <a:rPr lang="en-US" sz="2300" b="1" dirty="0"/>
              <a:t>Optimal Time to Water (OTW)</a:t>
            </a:r>
            <a:r>
              <a:rPr lang="en-US" sz="2300" dirty="0"/>
              <a:t> based on collected sensor data and external weather?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300" dirty="0"/>
              <a:t>What is the ideal software architecture (firmware </a:t>
            </a:r>
            <a:r>
              <a:rPr lang="en-GB" sz="2300" dirty="0">
                <a:cs typeface="Times New Roman" panose="02020603050405020304" pitchFamily="18" charset="0"/>
              </a:rPr>
              <a:t>→ MQTT → Cloud API → Control Logic) that minimizes data latency and ensures reliable, real-time control?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By what percentage can the P-WOS </a:t>
            </a:r>
            <a:r>
              <a:rPr lang="en-US" sz="2300" b="1" dirty="0"/>
              <a:t>reduce water consumption</a:t>
            </a:r>
            <a:r>
              <a:rPr lang="en-US" sz="2300" dirty="0"/>
              <a:t> compared to a fixed-threshold irrigation system over a typical two-week growing cycle?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143684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0599-E5D0-485C-8C5C-A5FA7168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7D7AE-EF4F-440D-BF18-18C466E39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The integration of a time-series Machine Learning prediction model, hosted on a cloud API, into an IoT micro-irrigation system will lead to a </a:t>
            </a:r>
            <a:r>
              <a:rPr lang="en-US" sz="2300" b="1" dirty="0"/>
              <a:t>minimum 15% reduction in water consumption</a:t>
            </a:r>
            <a:r>
              <a:rPr lang="en-US" sz="2300" dirty="0"/>
              <a:t> compared to a traditional reactive threshold-based system over the same testing period.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1789398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0198-C30E-4976-86CC-BEDA7C8A0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Study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A6D54-181E-41EB-A239-2451A6DED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4501"/>
            <a:ext cx="8596668" cy="477774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Environmental:</a:t>
            </a:r>
            <a:r>
              <a:rPr lang="en-US" sz="2300" dirty="0"/>
              <a:t> Directly contributes to </a:t>
            </a:r>
            <a:r>
              <a:rPr lang="en-US" sz="2300" b="1" dirty="0"/>
              <a:t>water conservation</a:t>
            </a:r>
            <a:r>
              <a:rPr lang="en-US" sz="2300" dirty="0"/>
              <a:t> by promoting intelligent, targeted irrigation methods.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Technological:</a:t>
            </a:r>
            <a:r>
              <a:rPr lang="en-US" sz="2300" dirty="0"/>
              <a:t> Demonstrates practical application of </a:t>
            </a:r>
            <a:r>
              <a:rPr lang="en-US" sz="2300" b="1" dirty="0"/>
              <a:t>Edge Computing and ML in the Cloud</a:t>
            </a:r>
            <a:r>
              <a:rPr lang="en-US" sz="2300" dirty="0"/>
              <a:t> for real-time control, showcasing advanced software engineering integration.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Economic:</a:t>
            </a:r>
            <a:r>
              <a:rPr lang="en-US" sz="2300" dirty="0"/>
              <a:t> Provides a </a:t>
            </a:r>
            <a:r>
              <a:rPr lang="en-US" sz="2300" b="1" dirty="0"/>
              <a:t>low-cost, high-value framework</a:t>
            </a:r>
            <a:r>
              <a:rPr lang="en-US" sz="2300" dirty="0"/>
              <a:t> for farmers or home growers, offering a rapid Return on Investment (ROI) through resource savings.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Academic:</a:t>
            </a:r>
            <a:r>
              <a:rPr lang="en-US" sz="2300" dirty="0"/>
              <a:t> Provides a complete </a:t>
            </a:r>
            <a:r>
              <a:rPr lang="en-US" sz="2300" b="1" dirty="0"/>
              <a:t>full-stack capstone project</a:t>
            </a:r>
            <a:r>
              <a:rPr lang="en-US" sz="2300" dirty="0"/>
              <a:t> spanning firmware, networking, cloud API design, ML model deployment and front-end development.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3266538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A20B-3FCF-48D2-829D-988D3DE6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2E654-1262-47CF-A862-623AF9E1B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4461"/>
            <a:ext cx="8596668" cy="485394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System Boundary:</a:t>
            </a:r>
            <a:r>
              <a:rPr lang="en-US" sz="2300" dirty="0"/>
              <a:t> The system will monitor and control water for a </a:t>
            </a:r>
            <a:r>
              <a:rPr lang="en-US" sz="2300" b="1" dirty="0"/>
              <a:t>single, small test bed</a:t>
            </a:r>
            <a:r>
              <a:rPr lang="en-US" sz="2300" dirty="0"/>
              <a:t> (e.g., a potted plant or small garden bed) to validate the core ML logic.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Data Sources:</a:t>
            </a:r>
            <a:r>
              <a:rPr lang="en-US" sz="2300" dirty="0"/>
              <a:t> Onboard moisture, temperature, and humidity sensors (DHT/Capacitive), plus data scraped from a single </a:t>
            </a:r>
            <a:r>
              <a:rPr lang="en-US" sz="2300" b="1" dirty="0" err="1"/>
              <a:t>OpenWeatherMap</a:t>
            </a:r>
            <a:r>
              <a:rPr lang="en-US" sz="2300" b="1" dirty="0"/>
              <a:t> API</a:t>
            </a:r>
            <a:r>
              <a:rPr lang="en-US" sz="2300" dirty="0"/>
              <a:t> endpoint for local rainfall/forecast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Exclusions:</a:t>
            </a:r>
            <a:r>
              <a:rPr lang="en-US" sz="2300" dirty="0"/>
              <a:t> The project will </a:t>
            </a:r>
            <a:r>
              <a:rPr lang="en-US" sz="2300" i="1" dirty="0"/>
              <a:t>not</a:t>
            </a:r>
            <a:r>
              <a:rPr lang="en-US" sz="2300" dirty="0"/>
              <a:t> cover advanced mechanical systems (e.g., water filtration, multiple zones, complex plumbing) or pest/disease detection. The focus is strictly on </a:t>
            </a:r>
            <a:r>
              <a:rPr lang="en-US" sz="2300" b="1" dirty="0"/>
              <a:t>water optimization via software</a:t>
            </a:r>
            <a:r>
              <a:rPr lang="en-US" sz="2300" dirty="0"/>
              <a:t>.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260744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B7C0-F757-44AD-947C-3FA8EB905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 of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41FC5-4386-41D5-AF41-18ED0774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The </a:t>
            </a:r>
            <a:r>
              <a:rPr lang="en-US" sz="2300" b="1" dirty="0"/>
              <a:t>sensor data</a:t>
            </a:r>
            <a:r>
              <a:rPr lang="en-US" sz="2300" dirty="0"/>
              <a:t> collected is sufficiently accurate and representative of the microclimate.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The </a:t>
            </a:r>
            <a:r>
              <a:rPr lang="en-US" sz="2300" b="1" dirty="0"/>
              <a:t>local Wi-Fi network</a:t>
            </a:r>
            <a:r>
              <a:rPr lang="en-US" sz="2300" dirty="0"/>
              <a:t> remains stable enough to transmit data reliably for the duration of the testing period.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The </a:t>
            </a:r>
            <a:r>
              <a:rPr lang="en-US" sz="2300" b="1" dirty="0"/>
              <a:t>external weather API</a:t>
            </a:r>
            <a:r>
              <a:rPr lang="en-US" sz="2300" dirty="0"/>
              <a:t> provides accurate and timely precipitation forecasts for the testing location.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dirty="0"/>
              <a:t>The soil type and plant material used in the test bed are </a:t>
            </a:r>
            <a:r>
              <a:rPr lang="en-US" sz="2300" b="1" dirty="0"/>
              <a:t>homogeneous</a:t>
            </a:r>
            <a:r>
              <a:rPr lang="en-US" sz="2300" dirty="0"/>
              <a:t> throughout the test.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217597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99C9-3474-47B2-AF7F-5B72CB85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Limitations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DBCD-ED86-418A-954B-94B698290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Limited Scalability:</a:t>
            </a:r>
            <a:r>
              <a:rPr lang="en-US" sz="2300" dirty="0"/>
              <a:t> Testing is confined to a single, small environment; performance in a large, real-world farm setting may differ due to environmental variability.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Model Simplicity:</a:t>
            </a:r>
            <a:r>
              <a:rPr lang="en-US" sz="2300" dirty="0"/>
              <a:t> The ML model is a simplified demonstration and will not incorporate deep learning (CNN/RNN) due to time constraints, focusing instead on interpretability (e.g., Random Forest Classifier).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Power Dependence:</a:t>
            </a:r>
            <a:r>
              <a:rPr lang="en-US" sz="2300" dirty="0"/>
              <a:t> The ESP32 requires external power and does not operate on long-term solar or battery power, limiting true remote deployment.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3921307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4A744-74EB-4F01-88C1-EBBC7612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 of Terms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222F896-2C84-41B8-81B6-A8FE6C1DA3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327682"/>
              </p:ext>
            </p:extLst>
          </p:nvPr>
        </p:nvGraphicFramePr>
        <p:xfrm>
          <a:off x="677863" y="1123951"/>
          <a:ext cx="8596312" cy="5653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151814071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055143072"/>
                    </a:ext>
                  </a:extLst>
                </a:gridCol>
              </a:tblGrid>
              <a:tr h="343326">
                <a:tc>
                  <a:txBody>
                    <a:bodyPr/>
                    <a:lstStyle/>
                    <a:p>
                      <a:r>
                        <a:rPr lang="en-GB" b="1" dirty="0">
                          <a:effectLst/>
                          <a:latin typeface="Google Sans Text"/>
                        </a:rPr>
                        <a:t>Term</a:t>
                      </a:r>
                      <a:endParaRPr lang="en-GB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268760"/>
                  </a:ext>
                </a:extLst>
              </a:tr>
              <a:tr h="700983">
                <a:tc>
                  <a:txBody>
                    <a:bodyPr/>
                    <a:lstStyle/>
                    <a:p>
                      <a:r>
                        <a:rPr lang="en-GB" dirty="0"/>
                        <a:t>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Internet of Things:</a:t>
                      </a:r>
                      <a:r>
                        <a:rPr lang="en-US" sz="1400" dirty="0"/>
                        <a:t> Interconnected network of physical devices that collect and exchange data.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303234"/>
                  </a:ext>
                </a:extLst>
              </a:tr>
              <a:tr h="911278">
                <a:tc>
                  <a:txBody>
                    <a:bodyPr/>
                    <a:lstStyle/>
                    <a:p>
                      <a:r>
                        <a:rPr lang="en-GB" dirty="0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Message Queuing Telemetry Transport:</a:t>
                      </a:r>
                      <a:r>
                        <a:rPr lang="en-US" sz="1400" dirty="0"/>
                        <a:t> A lightweight messaging protocol designed for low-bandwidth, high-latency networks.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07184"/>
                  </a:ext>
                </a:extLst>
              </a:tr>
              <a:tr h="911278">
                <a:tc>
                  <a:txBody>
                    <a:bodyPr/>
                    <a:lstStyle/>
                    <a:p>
                      <a:r>
                        <a:rPr lang="en-GB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Machine Learning:</a:t>
                      </a:r>
                      <a:r>
                        <a:rPr lang="en-US" sz="1400" dirty="0"/>
                        <a:t> The use of statistical methods to enable computers to learn from data without explicit programming.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999536"/>
                  </a:ext>
                </a:extLst>
              </a:tr>
              <a:tr h="911278">
                <a:tc>
                  <a:txBody>
                    <a:bodyPr/>
                    <a:lstStyle/>
                    <a:p>
                      <a:r>
                        <a:rPr lang="en-GB" dirty="0"/>
                        <a:t>Reactive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control system that acts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</a:t>
                      </a:r>
                      <a:r>
                        <a:rPr lang="en-US" sz="1400" dirty="0"/>
                        <a:t> when a fixed limit (threshold) is crossed (e.g., pump activates only when moisture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30%</a:t>
                      </a:r>
                      <a:r>
                        <a:rPr lang="en-US" sz="1400" dirty="0"/>
                        <a:t> )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97338"/>
                  </a:ext>
                </a:extLst>
              </a:tr>
              <a:tr h="1121574">
                <a:tc>
                  <a:txBody>
                    <a:bodyPr/>
                    <a:lstStyle/>
                    <a:p>
                      <a:r>
                        <a:rPr lang="en-GB" dirty="0"/>
                        <a:t>Predictive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control system that uses a model to forecast a future state and acts proactively to prevent a negative outcome (e.g., pump delays activation because rain is predicted in 2 hours).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597884"/>
                  </a:ext>
                </a:extLst>
              </a:tr>
              <a:tr h="700983">
                <a:tc>
                  <a:txBody>
                    <a:bodyPr/>
                    <a:lstStyle/>
                    <a:p>
                      <a:r>
                        <a:rPr lang="en-GB" dirty="0"/>
                        <a:t>Time-Series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sequence of data points indexed (or listed) in time order (e.g., soil moisture recorded every minute).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91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5828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</TotalTime>
  <Words>1073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Google Sans Text</vt:lpstr>
      <vt:lpstr>Times New Roman</vt:lpstr>
      <vt:lpstr>Trebuchet MS</vt:lpstr>
      <vt:lpstr>Wingdings</vt:lpstr>
      <vt:lpstr>Wingdings 3</vt:lpstr>
      <vt:lpstr>Facet</vt:lpstr>
      <vt:lpstr>PowerPoint Presentation</vt:lpstr>
      <vt:lpstr>Introduction</vt:lpstr>
      <vt:lpstr>Background</vt:lpstr>
      <vt:lpstr>Problem Statement</vt:lpstr>
      <vt:lpstr>Research Aim</vt:lpstr>
      <vt:lpstr>Research Objectives</vt:lpstr>
      <vt:lpstr>Research Questions</vt:lpstr>
      <vt:lpstr>Research Hypothesis</vt:lpstr>
      <vt:lpstr>Significance of Study</vt:lpstr>
      <vt:lpstr>Scope</vt:lpstr>
      <vt:lpstr>Assumption of Research</vt:lpstr>
      <vt:lpstr>Limitations </vt:lpstr>
      <vt:lpstr>Definition of Terms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Ndare Phillippe</dc:creator>
  <cp:lastModifiedBy>gody godera</cp:lastModifiedBy>
  <cp:revision>5</cp:revision>
  <dcterms:created xsi:type="dcterms:W3CDTF">2025-10-20T09:55:04Z</dcterms:created>
  <dcterms:modified xsi:type="dcterms:W3CDTF">2026-02-05T07:31:45Z</dcterms:modified>
</cp:coreProperties>
</file>